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71" r:id="rId6"/>
    <p:sldId id="273" r:id="rId7"/>
    <p:sldId id="259" r:id="rId8"/>
    <p:sldId id="274" r:id="rId9"/>
    <p:sldId id="276" r:id="rId10"/>
    <p:sldId id="277" r:id="rId11"/>
    <p:sldId id="275" r:id="rId12"/>
    <p:sldId id="278" r:id="rId13"/>
    <p:sldId id="27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2569" y="0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C5FB77-54CF-6709-25E4-FE9A39BF9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TELEPROMTER ÜGYFÉLSZEGMENTÁCIÓ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2FD3EFA-92EF-2F28-FB71-272E728747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b="1" dirty="0">
                <a:solidFill>
                  <a:schemeClr val="tx1">
                    <a:lumMod val="95000"/>
                  </a:schemeClr>
                </a:solidFill>
              </a:rPr>
              <a:t>Tóth Zoltán</a:t>
            </a:r>
          </a:p>
        </p:txBody>
      </p:sp>
    </p:spTree>
    <p:extLst>
      <p:ext uri="{BB962C8B-B14F-4D97-AF65-F5344CB8AC3E}">
        <p14:creationId xmlns:p14="http://schemas.microsoft.com/office/powerpoint/2010/main" val="299967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B02F5F-3CF1-BC9C-FB59-8CABD759E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TELEPROMTER 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32F033-C69A-A2E6-8801-81A941CEF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>
                <a:solidFill>
                  <a:schemeClr val="tx1">
                    <a:lumMod val="95000"/>
                  </a:schemeClr>
                </a:solidFill>
              </a:rPr>
              <a:t>Adatelőkészítés és feltáró adatelemzés</a:t>
            </a:r>
          </a:p>
          <a:p>
            <a:r>
              <a:rPr lang="hu-HU" b="1" dirty="0" err="1">
                <a:solidFill>
                  <a:schemeClr val="tx1">
                    <a:lumMod val="95000"/>
                  </a:schemeClr>
                </a:solidFill>
              </a:rPr>
              <a:t>Klaszterezés</a:t>
            </a:r>
            <a:endParaRPr lang="hu-HU" b="1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b="1" dirty="0">
                <a:solidFill>
                  <a:schemeClr val="tx1">
                    <a:lumMod val="95000"/>
                  </a:schemeClr>
                </a:solidFill>
              </a:rPr>
              <a:t>Osztályozás, lemorzsolódás előrejelzése</a:t>
            </a:r>
          </a:p>
        </p:txBody>
      </p:sp>
    </p:spTree>
    <p:extLst>
      <p:ext uri="{BB962C8B-B14F-4D97-AF65-F5344CB8AC3E}">
        <p14:creationId xmlns:p14="http://schemas.microsoft.com/office/powerpoint/2010/main" val="339629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2D69A2-8CFD-ECB1-8367-E15C50543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53" y="0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Alapvetően ML módszerekkel – osztályozás, </a:t>
            </a:r>
            <a:r>
              <a:rPr lang="hu-HU" b="1" dirty="0" err="1"/>
              <a:t>klAszterezés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E6AE7C-2688-F748-4946-9F1B8634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155" y="1621366"/>
            <a:ext cx="8534400" cy="3615267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Célcsoportunk azok a felhasználók, akik: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megfigyelési időszak alatt kezdték és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Fejezték be a próbaidőszakot (eltelt, lezárták, konvertáltak vagy vásároltak)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CÉL: 1. megismerni azokat ismérveket, melyek alapján a felhasználók elkülöníthetők egymástól illetve csoportosíthatók (klaszterek képzése), hogy megismerjük őket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2. A konvertálás - nem konvertálás alapján osztályozni őket (osztályozás)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3. Előre jelezni a konvertálást illetve annak valószínűségét  </a:t>
            </a:r>
          </a:p>
        </p:txBody>
      </p:sp>
    </p:spTree>
    <p:extLst>
      <p:ext uri="{BB962C8B-B14F-4D97-AF65-F5344CB8AC3E}">
        <p14:creationId xmlns:p14="http://schemas.microsoft.com/office/powerpoint/2010/main" val="235249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F2EC-5852-1AA1-33EA-10D7525C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FA4025-1566-FB0C-04CE-210CBB4F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21821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Adatelőkészítés, feltáró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0FDA02-6686-F607-3249-C2E709A90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5598"/>
            <a:ext cx="8534400" cy="3615267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Adatelőkésztés – minimális, NA-kezelés,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outlier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-ek nem jellemzők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Sok esemény, két tulajdonság (OS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verzio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ország)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Események csoportosítása vagy szelektálása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Magyarázó változók közül a következmények kiszűrése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Esemény ≠ funkció (inkább azok kellenének)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honlapon található funkciólista és platformok közötti felosztást használtam funkció- vagy esemény csoportként (66 funkció)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Valószínűleg ez a leggyengébb pontja a teljes elemzésnek</a:t>
            </a:r>
          </a:p>
        </p:txBody>
      </p:sp>
    </p:spTree>
    <p:extLst>
      <p:ext uri="{BB962C8B-B14F-4D97-AF65-F5344CB8AC3E}">
        <p14:creationId xmlns:p14="http://schemas.microsoft.com/office/powerpoint/2010/main" val="990763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31EE3-E7A1-972A-1516-7A6CD2B3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09E27C-AA17-41A2-E17A-08F39656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81" y="274320"/>
            <a:ext cx="8534400" cy="1221231"/>
          </a:xfrm>
        </p:spPr>
        <p:txBody>
          <a:bodyPr>
            <a:normAutofit/>
          </a:bodyPr>
          <a:lstStyle/>
          <a:p>
            <a:r>
              <a:rPr lang="hu-HU" b="1" dirty="0"/>
              <a:t>Adatelőkészítés, feltáró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961ECB-D4FD-5B0E-5A11-8B3260183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34" y="1344676"/>
            <a:ext cx="8534400" cy="5102352"/>
          </a:xfrm>
        </p:spPr>
        <p:txBody>
          <a:bodyPr>
            <a:normAutofit fontScale="92500" lnSpcReduction="10000"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 egyes eseményeken és csoportokon belül a konvertáltak relatív gyakorisága vizsgálata (feltételezzük, hogy ezek a legfontosabbak az előfizetőknek) : </a:t>
            </a: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914400" lvl="2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914400" lvl="2" indent="0">
              <a:buNone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Legalább ezer esemény, +15%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relativ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gyakoriság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Ezeket a funkciókat érdemes kiemelten kezelni (fejlesztések, hibajavítások, leírások,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user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guide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-ok, bemutatók, promóciók </a:t>
            </a:r>
          </a:p>
        </p:txBody>
      </p:sp>
      <p:graphicFrame>
        <p:nvGraphicFramePr>
          <p:cNvPr id="5" name="Objektum 4">
            <a:extLst>
              <a:ext uri="{FF2B5EF4-FFF2-40B4-BE49-F238E27FC236}">
                <a16:creationId xmlns:a16="http://schemas.microsoft.com/office/drawing/2014/main" id="{0CC7EADB-EF94-D15B-9BC9-79A3C83E1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117216"/>
              </p:ext>
            </p:extLst>
          </p:nvPr>
        </p:nvGraphicFramePr>
        <p:xfrm>
          <a:off x="1715601" y="2462339"/>
          <a:ext cx="40100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09941" imgH="2866925" progId="Excel.Sheet.12">
                  <p:embed/>
                </p:oleObj>
              </mc:Choice>
              <mc:Fallback>
                <p:oleObj name="Worksheet" r:id="rId2" imgW="4009941" imgH="28669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15601" y="2462339"/>
                        <a:ext cx="40100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459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6CD22-3564-AE1B-F8E6-8BCF76B6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FBFDF4E-7FEB-4B4C-B639-6BA564705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E05CFDD-71A9-5BD5-27A4-4006B96B0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71" y="-67734"/>
            <a:ext cx="4620880" cy="1507067"/>
          </a:xfrm>
        </p:spPr>
        <p:txBody>
          <a:bodyPr>
            <a:normAutofit/>
          </a:bodyPr>
          <a:lstStyle/>
          <a:p>
            <a:r>
              <a:rPr lang="hu-HU" b="1" dirty="0"/>
              <a:t>KLASZTEREZÉS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0BEEDD-C951-2E00-77F2-06ADFD89E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951" y="1358418"/>
            <a:ext cx="4620880" cy="41279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800" dirty="0">
                <a:solidFill>
                  <a:schemeClr val="tx1">
                    <a:lumMod val="95000"/>
                  </a:schemeClr>
                </a:solidFill>
              </a:rPr>
              <a:t>Felhasználók </a:t>
            </a:r>
            <a:r>
              <a:rPr lang="hu-HU" sz="1800" dirty="0" err="1">
                <a:solidFill>
                  <a:schemeClr val="tx1">
                    <a:lumMod val="95000"/>
                  </a:schemeClr>
                </a:solidFill>
              </a:rPr>
              <a:t>klaszterezése</a:t>
            </a:r>
            <a:r>
              <a:rPr lang="hu-HU" sz="1800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funkciók alapján (események felösszegzése az események csoportjai szerint) </a:t>
            </a:r>
          </a:p>
          <a:p>
            <a:pPr lvl="1">
              <a:lnSpc>
                <a:spcPct val="90000"/>
              </a:lnSpc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Standard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scaler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használata</a:t>
            </a:r>
          </a:p>
          <a:p>
            <a:pPr lvl="1">
              <a:lnSpc>
                <a:spcPct val="90000"/>
              </a:lnSpc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KNN módszer</a:t>
            </a:r>
          </a:p>
          <a:p>
            <a:pPr lvl="1">
              <a:lnSpc>
                <a:spcPct val="90000"/>
              </a:lnSpc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Klaszterszám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elbow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módszerrel: 5 </a:t>
            </a:r>
          </a:p>
          <a:p>
            <a:pPr>
              <a:lnSpc>
                <a:spcPct val="90000"/>
              </a:lnSpc>
            </a:pPr>
            <a:endParaRPr lang="hu-HU" sz="1800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hu-HU" sz="1800" dirty="0">
                <a:solidFill>
                  <a:schemeClr val="tx1">
                    <a:lumMod val="95000"/>
                  </a:schemeClr>
                </a:solidFill>
              </a:rPr>
              <a:t>Az 1- 4 klasztereket érdemes részletesebben megvizsgálni, itt van jó esély a konverzióra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B782A4-24DA-422C-A559-1EC93F3D9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5400" y="321732"/>
            <a:ext cx="3634789" cy="516466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18B0A92-65AC-5268-3D03-332F096C4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980" y="1604252"/>
            <a:ext cx="3311629" cy="259962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479366A-5396-4D79-ADE8-1188246A6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50030" y="321732"/>
            <a:ext cx="2401187" cy="250020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657EB58-84CC-9743-7265-E06E73D6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635" y="841659"/>
            <a:ext cx="2093976" cy="146035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12A143C-D96F-469D-82CE-2FB027501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50030" y="2986193"/>
            <a:ext cx="2401187" cy="2500207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1AB4A75-BE78-17F4-33D1-8F16F99B8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635" y="3658809"/>
            <a:ext cx="2093976" cy="115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FAEFCC-42C3-D33E-56BE-931F373D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345" y="0"/>
            <a:ext cx="8534400" cy="1507067"/>
          </a:xfrm>
        </p:spPr>
        <p:txBody>
          <a:bodyPr/>
          <a:lstStyle/>
          <a:p>
            <a:r>
              <a:rPr lang="hu-HU" b="1" dirty="0"/>
              <a:t>Klaszterek jellemzői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83589E-D60B-938E-46C2-FF96AAF3F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345" y="1973424"/>
            <a:ext cx="4937655" cy="3615267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hu-HU" sz="2400" dirty="0">
                <a:solidFill>
                  <a:schemeClr val="tx1">
                    <a:lumMod val="95000"/>
                  </a:schemeClr>
                </a:solidFill>
              </a:rPr>
              <a:t>1-es (463 db, 59%)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Gyakran lép be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Alapfunkciókat használja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Kevés egyedi vagy finom beállítás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Country: USA, Ukrajna és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Brazilia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túlreprezentált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6593C9-0AA8-9DCC-74A1-1C5CDD375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5000" y="1973424"/>
            <a:ext cx="4934479" cy="3615266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hu-HU" sz="2400" dirty="0">
                <a:solidFill>
                  <a:schemeClr val="tx1">
                    <a:lumMod val="95000"/>
                  </a:schemeClr>
                </a:solidFill>
              </a:rPr>
              <a:t>4-es (67, 69%)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Nagyon sokszor lép be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Intenzíven használja a legfontosabb funkciókat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recording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script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generation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Egyedi beállításokat is használ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Custom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Font, stb.)</a:t>
            </a:r>
          </a:p>
          <a:p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Live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stream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-el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Country: USA és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Brazilia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mellet európai országok (Németország, Spanyolország, Oroszország)</a:t>
            </a:r>
          </a:p>
        </p:txBody>
      </p:sp>
    </p:spTree>
    <p:extLst>
      <p:ext uri="{BB962C8B-B14F-4D97-AF65-F5344CB8AC3E}">
        <p14:creationId xmlns:p14="http://schemas.microsoft.com/office/powerpoint/2010/main" val="66354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6F58-823D-4A57-7E43-4AF40569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CBCB26-E57A-F883-0FFF-7BE0E427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Osztályozás – funkciók alapján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860253-F025-2506-028C-5FF74B66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00175"/>
            <a:ext cx="8534400" cy="4057650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Kiinduló modell a szűkített változókat használta (funkciók)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Célváltozó: konvertált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Három különböző módszer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Logisztikus regresszió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Random Forest</a:t>
            </a:r>
          </a:p>
          <a:p>
            <a:pPr lvl="1"/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Gradient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Boosting</a:t>
            </a: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Kiértékelés: konfúziós mátrix, AUROC,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(1)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Elfogadható AUROC (80%),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(85%), de az 1-es osztályban gyenge teljesítmény (33%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 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Kiegyensúlyozatlanság lehet a fő ok</a:t>
            </a:r>
          </a:p>
        </p:txBody>
      </p:sp>
    </p:spTree>
    <p:extLst>
      <p:ext uri="{BB962C8B-B14F-4D97-AF65-F5344CB8AC3E}">
        <p14:creationId xmlns:p14="http://schemas.microsoft.com/office/powerpoint/2010/main" val="176330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1FFF-485A-CF9D-0608-AFE6529C6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7468BB-B5D2-0A55-527B-6B47C2A0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Osztályozás – események alapján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FD5A21-D891-E02A-E02C-A6D5CCECE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224764"/>
            <a:ext cx="8534400" cy="4408471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 események felösszegzése felhasználó szinten: nagyon sok változó!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Célváltozó: konvertált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Egyes változók kiszűrése (1 körüli korrelációk)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Két különböző módszer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Random Forest</a:t>
            </a:r>
          </a:p>
          <a:p>
            <a:pPr lvl="1"/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Gradient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Boosting</a:t>
            </a: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Kiértékelés: konfúziós mátrix, AUROC,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(1)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Elfogadható AUROC (0,78-0,82),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(85%), de az 1-es osztályban gyenge teljesítmény (33%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 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legjobb modell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Gradient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Boosting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777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242B9-CE93-BC6C-64C3-FE2CE7DF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7A6F7C-ACCB-1994-6D84-BDAA5350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Osztályozás – fejlesztés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73A1AB-3E4A-A697-E743-2B14BBDD7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46853"/>
            <a:ext cx="8534400" cy="405765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gradient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boosting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továbbfejlesztése 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Kiegyensúlyozatlanság kezelése két különböző módszerrel:</a:t>
            </a:r>
          </a:p>
          <a:p>
            <a:pPr lvl="1"/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Oversampling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(SMOTE)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Hibák súlyozása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compute_sample_weight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Valamint ezek kombinációja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hibák súlyozása nagyban javította a FN arányt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74%), elfogadható AUROC (0,85) és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(72%)csökkenés mellett 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oversampling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és a kettő együtt alkalmazása nem javította a modell pontosságát </a:t>
            </a:r>
          </a:p>
        </p:txBody>
      </p:sp>
    </p:spTree>
    <p:extLst>
      <p:ext uri="{BB962C8B-B14F-4D97-AF65-F5344CB8AC3E}">
        <p14:creationId xmlns:p14="http://schemas.microsoft.com/office/powerpoint/2010/main" val="201119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79DA-4449-811A-0256-47AA2E76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D94096-1730-CEF4-9108-46FF1E18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0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Osztályozás - Eredmény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D8D528-6B6C-3837-C96B-B231F2AF7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29893"/>
            <a:ext cx="8534400" cy="497205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változók súlya az osztályozás során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Érdekes, hogy nagyon számít az OS verzió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 ország is fontos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Akik aktívan használják és értékelik a script funkciókat, </a:t>
            </a:r>
          </a:p>
          <a:p>
            <a:pPr marL="457200" lvl="1" indent="0">
              <a:buNone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Illetve videokat vesznek fel, azok a konvertáló felhasználók </a:t>
            </a:r>
          </a:p>
          <a:p>
            <a:pPr marL="0" indent="0">
              <a:buNone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Ezek a funkciókra érdemes nagyobb hangsúlyt fektetni: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Célzott bemutató,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user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guide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promóció, stb.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„billegő” felhasználók karakterisztikája jobb megismerése (tulajdonságok, eloszlások)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Klaszter eredmények és az osztályozás valószínűsége összevetése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A6F654A-380B-C6C7-F51E-4842D74A9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771" y="1426029"/>
            <a:ext cx="36099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9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8EA2-5C61-9E99-320E-FF590B40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EB618-9203-C7A4-6ACC-EFDE07B2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0325"/>
            <a:ext cx="8534400" cy="1250949"/>
          </a:xfrm>
        </p:spPr>
        <p:txBody>
          <a:bodyPr>
            <a:normAutofit/>
          </a:bodyPr>
          <a:lstStyle/>
          <a:p>
            <a:r>
              <a:rPr lang="hu-HU" b="1" dirty="0"/>
              <a:t>Osztályozás – PREDIKCIÓ (</a:t>
            </a:r>
            <a:r>
              <a:rPr lang="hu-HU" b="1" dirty="0" err="1"/>
              <a:t>early</a:t>
            </a:r>
            <a:r>
              <a:rPr lang="hu-HU" b="1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5614F9-C54A-2E42-4DEE-AC61E0012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11274"/>
            <a:ext cx="9709166" cy="4057650"/>
          </a:xfrm>
        </p:spPr>
        <p:txBody>
          <a:bodyPr>
            <a:normAutofit fontScale="85000" lnSpcReduction="20000"/>
          </a:bodyPr>
          <a:lstStyle/>
          <a:p>
            <a:r>
              <a:rPr lang="hu-HU" b="1" dirty="0">
                <a:solidFill>
                  <a:schemeClr val="tx1">
                    <a:lumMod val="95000"/>
                  </a:schemeClr>
                </a:solidFill>
              </a:rPr>
              <a:t>CÉL: már a próbaidőszak alatt a konvertálás valószínűsége előrejelzése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 élő adatokon futtatva a modellt, lehet szűrni a potenciális „billegőket”, akiket érdemes akciókkal megkeresni  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Alap adatbázis: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Azok a felhasználók összes eseménye, akik elkezdték de még nem fejezték be a próbaidőszakot (lemondással vagy konvertálással)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Esemény szint, nem funkció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Modell: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Gradient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Boosting</a:t>
            </a: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Kiegyensúlyozatlanság kezelése két különböző módszerrel: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Hibák súlyozása (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compute_sample_weight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</a:t>
            </a:r>
          </a:p>
          <a:p>
            <a:pPr lvl="1"/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Oversampling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(SMOTE) + hibák súlyozása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hibák súlyozása itt is javította a javította teljesítményt, de a SMOTE már érdemben nem (AUROC: 0,78;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Accuracy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: 0,67;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Recall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: 0,74)  </a:t>
            </a:r>
          </a:p>
        </p:txBody>
      </p:sp>
    </p:spTree>
    <p:extLst>
      <p:ext uri="{BB962C8B-B14F-4D97-AF65-F5344CB8AC3E}">
        <p14:creationId xmlns:p14="http://schemas.microsoft.com/office/powerpoint/2010/main" val="3199479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0772-3BE4-A274-B8AA-B69EAB55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C77D74-74CF-0F34-222D-AA882ED6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7734"/>
            <a:ext cx="8534400" cy="1507067"/>
          </a:xfrm>
        </p:spPr>
        <p:txBody>
          <a:bodyPr>
            <a:normAutofit/>
          </a:bodyPr>
          <a:lstStyle/>
          <a:p>
            <a:r>
              <a:rPr lang="hu-HU" b="1" dirty="0"/>
              <a:t>Osztályozás – </a:t>
            </a:r>
            <a:r>
              <a:rPr lang="hu-HU" b="1" dirty="0" err="1"/>
              <a:t>predikció</a:t>
            </a:r>
            <a:r>
              <a:rPr lang="hu-HU" b="1" dirty="0"/>
              <a:t> (</a:t>
            </a:r>
            <a:r>
              <a:rPr lang="hu-HU" b="1" dirty="0" err="1"/>
              <a:t>early</a:t>
            </a:r>
            <a:r>
              <a:rPr lang="hu-HU" b="1" dirty="0"/>
              <a:t>)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F069C9-25CB-514C-1076-9FC091A80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419224"/>
            <a:ext cx="8534400" cy="4972050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változók súlya az osztályozás során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Ország itt jelentős tényező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fizetéskor, vagy a meghosszabbításkor</a:t>
            </a:r>
          </a:p>
          <a:p>
            <a:pPr marL="457200" lvl="1" indent="0">
              <a:buNone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sokan meggondolják magukat (ár, feltételek?)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Fontos, hogy aktívan használják a video felvétellel</a:t>
            </a:r>
          </a:p>
          <a:p>
            <a:pPr marL="457200" lvl="1" indent="0">
              <a:buNone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kapcsolatos funkciókat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Ezek a funkciókra (részletesebb és köztes állomásokat, technikai eseményeket kiszűrve) érdemes nagyobb hangsúlyt fektetni: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Célzott bemutató,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user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guide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, promóció, stb. </a:t>
            </a:r>
          </a:p>
          <a:p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A „billegő” felhasználók esetén (folyamatos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predikció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):   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Próbaidőszak meghosszabbítása, új felajánlása, bevezető időszakra csökkentett díj, stb. </a:t>
            </a:r>
          </a:p>
          <a:p>
            <a:pPr lvl="1"/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Ezen felhasználók karakterisztikája jobb megismerése</a:t>
            </a:r>
          </a:p>
        </p:txBody>
      </p:sp>
      <p:graphicFrame>
        <p:nvGraphicFramePr>
          <p:cNvPr id="7" name="Objektum 6">
            <a:extLst>
              <a:ext uri="{FF2B5EF4-FFF2-40B4-BE49-F238E27FC236}">
                <a16:creationId xmlns:a16="http://schemas.microsoft.com/office/drawing/2014/main" id="{4505A943-DAFD-6D3B-6320-0BC3EC5B1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344269"/>
              </p:ext>
            </p:extLst>
          </p:nvPr>
        </p:nvGraphicFramePr>
        <p:xfrm>
          <a:off x="8660459" y="1574801"/>
          <a:ext cx="3187700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87675" imgH="2216238" progId="Excel.Sheet.12">
                  <p:embed/>
                </p:oleObj>
              </mc:Choice>
              <mc:Fallback>
                <p:oleObj name="Worksheet" r:id="rId2" imgW="3187675" imgH="221623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60459" y="1574801"/>
                        <a:ext cx="3187700" cy="221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668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B3722E-D1AF-F4F5-5342-27808722A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50228"/>
            <a:ext cx="8534401" cy="953883"/>
          </a:xfrm>
        </p:spPr>
        <p:txBody>
          <a:bodyPr/>
          <a:lstStyle/>
          <a:p>
            <a:r>
              <a:rPr lang="hu-HU" b="1" dirty="0"/>
              <a:t>Továbbfejlesztési lehetőségek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D95A0F0-8BF6-CF9F-1BCB-D7C64140C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548143"/>
            <a:ext cx="8534400" cy="444625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Változók magyarázó ereje pontosabb felmérése (Gini, lift, IV., WOE, stb.)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Következmény és magyarázó változók jobb elkülönítése, belső korrelációk kiszűrése, csupán „technikai” események kihagyása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Feature</a:t>
            </a: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hu-HU" dirty="0" err="1">
                <a:solidFill>
                  <a:schemeClr val="tx1">
                    <a:lumMod val="95000"/>
                  </a:schemeClr>
                </a:solidFill>
              </a:rPr>
              <a:t>Selection</a:t>
            </a:r>
            <a:endParaRPr lang="hu-HU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Funkciók pontosabb besorolása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Viselkedési mutatók képzése (pl. időben), gyakorisági mutatók a kulcs eseményekre/funkciókra, stb.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>
                    <a:lumMod val="95000"/>
                  </a:schemeClr>
                </a:solidFill>
              </a:rPr>
              <a:t>Fontos ügyfélcsoportok (nagy és közepes eséllyel konvertálók) viselkedése alaposabb elemzése (konvertálási valószínűségek és/vagy klaszterbe sorolás alapján meghatározva a célcsoportot)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779874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Custom 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1378</TotalTime>
  <Words>903</Words>
  <Application>Microsoft Office PowerPoint</Application>
  <PresentationFormat>Szélesvásznú</PresentationFormat>
  <Paragraphs>122</Paragraphs>
  <Slides>14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Arial</vt:lpstr>
      <vt:lpstr>Avenir Next LT Pro</vt:lpstr>
      <vt:lpstr>Wingdings 3</vt:lpstr>
      <vt:lpstr>Szelet</vt:lpstr>
      <vt:lpstr>Worksheet</vt:lpstr>
      <vt:lpstr>TELEPROMTER ÜGYFÉLSZEGMENTÁCIÓ</vt:lpstr>
      <vt:lpstr>TELEPROMTER PROJEKT</vt:lpstr>
      <vt:lpstr>Alapvetően ML módszerekkel – osztályozás, klAszterezés</vt:lpstr>
      <vt:lpstr>Adatelőkészítés, feltáró elemzés</vt:lpstr>
      <vt:lpstr>Adatelőkészítés, feltáró elemzés</vt:lpstr>
      <vt:lpstr>KLASZTEREZÉS</vt:lpstr>
      <vt:lpstr>Klaszterek jellemzői</vt:lpstr>
      <vt:lpstr>Osztályozás – funkciók alapján</vt:lpstr>
      <vt:lpstr>Osztályozás – események alapján</vt:lpstr>
      <vt:lpstr>Osztályozás – fejlesztés</vt:lpstr>
      <vt:lpstr>Osztályozás - Eredmény </vt:lpstr>
      <vt:lpstr>Osztályozás – PREDIKCIÓ (early)</vt:lpstr>
      <vt:lpstr>Osztályozás – predikció (early) </vt:lpstr>
      <vt:lpstr>Továbbfejlesztési lehetőségek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Egy banki hitelbírálati rendszer lehetséges modellje</dc:title>
  <dc:creator>Zoltán</dc:creator>
  <cp:lastModifiedBy>Zoltán Tóth</cp:lastModifiedBy>
  <cp:revision>24</cp:revision>
  <dcterms:created xsi:type="dcterms:W3CDTF">2023-06-10T16:31:52Z</dcterms:created>
  <dcterms:modified xsi:type="dcterms:W3CDTF">2025-05-11T18:12:31Z</dcterms:modified>
</cp:coreProperties>
</file>